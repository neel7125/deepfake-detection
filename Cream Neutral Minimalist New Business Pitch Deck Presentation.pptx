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Public Sans Bold" charset="1" panose="00000000000000000000"/>
      <p:regular r:id="rId31"/>
    </p:embeddedFont>
    <p:embeddedFont>
      <p:font typeface="Playfair Display" charset="1" panose="00000500000000000000"/>
      <p:regular r:id="rId32"/>
    </p:embeddedFont>
    <p:embeddedFont>
      <p:font typeface="Public Sans" charset="1" panose="00000000000000000000"/>
      <p:regular r:id="rId33"/>
    </p:embeddedFont>
    <p:embeddedFont>
      <p:font typeface="Gotham" charset="1" panose="00000000000000000000"/>
      <p:regular r:id="rId34"/>
    </p:embeddedFont>
    <p:embeddedFont>
      <p:font typeface="Gotham Bold" charset="1" panose="00000000000000000000"/>
      <p:regular r:id="rId35"/>
    </p:embeddedFont>
    <p:embeddedFont>
      <p:font typeface="DM Sans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ondyari/FaceForensics/tree/master/dataset/DeepFakeDetection" TargetMode="External" Type="http://schemas.openxmlformats.org/officeDocument/2006/relationships/hyperlink"/><Relationship Id="rId3" Target="https://github.com/ondyari/FaceForensics/tree/master/dataset/DeepFakeDetection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sanikatiwarekar/deep-fake-detection-dfd-entire-original-dataset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50985" y="2464388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6" y="2936080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44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IT499 - Biometric Security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0974" y="949032"/>
            <a:ext cx="16408332" cy="1335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1"/>
              </a:lnSpc>
            </a:pPr>
            <a:r>
              <a:rPr lang="en-US" sz="10660" spc="5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DeepFakeDetection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6" y="5201058"/>
            <a:ext cx="10892558" cy="136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36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Dhirubhai Ambani Institute of Information </a:t>
            </a:r>
          </a:p>
          <a:p>
            <a:pPr algn="l">
              <a:lnSpc>
                <a:spcPts val="5549"/>
              </a:lnSpc>
            </a:pPr>
            <a:r>
              <a:rPr lang="en-US" sz="36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and Communication Technology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6" y="7561389"/>
            <a:ext cx="16230600" cy="1617877"/>
            <a:chOff x="0" y="0"/>
            <a:chExt cx="21640800" cy="215716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21640800" cy="8362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44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Team Members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12427"/>
              <a:ext cx="21640800" cy="1244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0"/>
                </a:lnSpc>
              </a:pPr>
              <a:r>
                <a:rPr lang="en-US" sz="2714" spc="328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Darpan Lunagariya - 2022 01462</a:t>
              </a:r>
            </a:p>
            <a:p>
              <a:pPr algn="l">
                <a:lnSpc>
                  <a:spcPts val="3800"/>
                </a:lnSpc>
                <a:spcBef>
                  <a:spcPct val="0"/>
                </a:spcBef>
              </a:pPr>
              <a:r>
                <a:rPr lang="en-US" sz="2714" spc="328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Neel Patel - 2022 01494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06882" y="3670407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44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to: Prof. Shruti Bhilare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378405"/>
            <a:ext cx="15881766" cy="1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With the rapid advancement of AI tools, generating hyper-realistic fake images and videos has become fast and effortless. This surge in synthetic content brings serious consequences, including: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95" y="4473223"/>
            <a:ext cx="15881766" cy="172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9" indent="-334650" lvl="1">
              <a:lnSpc>
                <a:spcPts val="4619"/>
              </a:lnSpc>
              <a:buFont typeface="Arial"/>
              <a:buChar char="•"/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The spread of misinformation and fake news</a:t>
            </a:r>
          </a:p>
          <a:p>
            <a:pPr algn="l" marL="669299" indent="-334650" lvl="1">
              <a:lnSpc>
                <a:spcPts val="4619"/>
              </a:lnSpc>
              <a:buFont typeface="Arial"/>
              <a:buChar char="•"/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Defamation and violations of personal privacy</a:t>
            </a:r>
          </a:p>
          <a:p>
            <a:pPr algn="l" marL="669299" indent="-334650" lvl="1">
              <a:lnSpc>
                <a:spcPts val="4619"/>
              </a:lnSpc>
              <a:buFont typeface="Arial"/>
              <a:buChar char="•"/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Erosion of trust in digital media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68848"/>
            <a:ext cx="15881766" cy="230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As these manipulated visuals become increasingly convincing and widespread, there is a growing need for robust detection systems—especially ones capable of identifying fakes even after compression, a common practice on social media platforms that further obscures signs of tampering.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695" y="4590507"/>
            <a:ext cx="2214844" cy="1696236"/>
            <a:chOff x="0" y="0"/>
            <a:chExt cx="2953125" cy="22616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586" y="0"/>
              <a:ext cx="2948538" cy="2071348"/>
            </a:xfrm>
            <a:custGeom>
              <a:avLst/>
              <a:gdLst/>
              <a:ahLst/>
              <a:cxnLst/>
              <a:rect r="r" b="b" t="t" l="l"/>
              <a:pathLst>
                <a:path h="2071348" w="2948538">
                  <a:moveTo>
                    <a:pt x="0" y="0"/>
                  </a:moveTo>
                  <a:lnTo>
                    <a:pt x="2948539" y="0"/>
                  </a:lnTo>
                  <a:lnTo>
                    <a:pt x="2948539" y="2071348"/>
                  </a:lnTo>
                  <a:lnTo>
                    <a:pt x="0" y="207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308599"/>
              <a:ext cx="2948538" cy="195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Data S</a:t>
              </a: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ourcing</a:t>
              </a: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974625" y="4590507"/>
            <a:ext cx="2575303" cy="1553511"/>
            <a:chOff x="0" y="0"/>
            <a:chExt cx="3433738" cy="20713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42600" y="0"/>
              <a:ext cx="2948538" cy="2071348"/>
            </a:xfrm>
            <a:custGeom>
              <a:avLst/>
              <a:gdLst/>
              <a:ahLst/>
              <a:cxnLst/>
              <a:rect r="r" b="b" t="t" l="l"/>
              <a:pathLst>
                <a:path h="2071348" w="2948538">
                  <a:moveTo>
                    <a:pt x="0" y="0"/>
                  </a:moveTo>
                  <a:lnTo>
                    <a:pt x="2948538" y="0"/>
                  </a:lnTo>
                  <a:lnTo>
                    <a:pt x="2948538" y="2071348"/>
                  </a:lnTo>
                  <a:lnTo>
                    <a:pt x="0" y="207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365537"/>
              <a:ext cx="3433738" cy="10934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</a:t>
              </a:r>
              <a:r>
                <a:rPr lang="en-US" b="true" sz="240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ata Pre-processing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81016" y="4519144"/>
            <a:ext cx="2260966" cy="1553511"/>
            <a:chOff x="0" y="0"/>
            <a:chExt cx="3014621" cy="20713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6083" y="0"/>
              <a:ext cx="2948538" cy="2071348"/>
            </a:xfrm>
            <a:custGeom>
              <a:avLst/>
              <a:gdLst/>
              <a:ahLst/>
              <a:cxnLst/>
              <a:rect r="r" b="b" t="t" l="l"/>
              <a:pathLst>
                <a:path h="2071348" w="2948538">
                  <a:moveTo>
                    <a:pt x="0" y="0"/>
                  </a:moveTo>
                  <a:lnTo>
                    <a:pt x="2948538" y="0"/>
                  </a:lnTo>
                  <a:lnTo>
                    <a:pt x="2948538" y="2071348"/>
                  </a:lnTo>
                  <a:lnTo>
                    <a:pt x="0" y="207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356012"/>
              <a:ext cx="3014621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</a:t>
              </a: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odel Selection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75407" y="4590507"/>
            <a:ext cx="2211404" cy="1553511"/>
            <a:chOff x="0" y="0"/>
            <a:chExt cx="2948538" cy="20713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48538" cy="2071348"/>
            </a:xfrm>
            <a:custGeom>
              <a:avLst/>
              <a:gdLst/>
              <a:ahLst/>
              <a:cxnLst/>
              <a:rect r="r" b="b" t="t" l="l"/>
              <a:pathLst>
                <a:path h="2071348" w="2948538">
                  <a:moveTo>
                    <a:pt x="0" y="0"/>
                  </a:moveTo>
                  <a:lnTo>
                    <a:pt x="2948538" y="0"/>
                  </a:lnTo>
                  <a:lnTo>
                    <a:pt x="2948538" y="2071348"/>
                  </a:lnTo>
                  <a:lnTo>
                    <a:pt x="0" y="207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173894" y="435599"/>
              <a:ext cx="2600751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</a:t>
              </a: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odel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20236" y="4661869"/>
            <a:ext cx="2211404" cy="1553511"/>
            <a:chOff x="0" y="0"/>
            <a:chExt cx="2948538" cy="20713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48538" cy="2071348"/>
            </a:xfrm>
            <a:custGeom>
              <a:avLst/>
              <a:gdLst/>
              <a:ahLst/>
              <a:cxnLst/>
              <a:rect r="r" b="b" t="t" l="l"/>
              <a:pathLst>
                <a:path h="2071348" w="2948538">
                  <a:moveTo>
                    <a:pt x="0" y="0"/>
                  </a:moveTo>
                  <a:lnTo>
                    <a:pt x="2948538" y="0"/>
                  </a:lnTo>
                  <a:lnTo>
                    <a:pt x="2948538" y="2071348"/>
                  </a:lnTo>
                  <a:lnTo>
                    <a:pt x="0" y="2071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220686" y="356012"/>
              <a:ext cx="2507165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</a:t>
              </a:r>
              <a:r>
                <a:rPr lang="en-US" b="true" sz="279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odel Evaluation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29294" y="2799305"/>
            <a:ext cx="5820635" cy="673821"/>
            <a:chOff x="0" y="0"/>
            <a:chExt cx="7760847" cy="89842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760847" cy="898428"/>
              <a:chOff x="0" y="0"/>
              <a:chExt cx="1842122" cy="21325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842122" cy="213252"/>
              </a:xfrm>
              <a:custGeom>
                <a:avLst/>
                <a:gdLst/>
                <a:ahLst/>
                <a:cxnLst/>
                <a:rect r="r" b="b" t="t" l="l"/>
                <a:pathLst>
                  <a:path h="213252" w="1842122">
                    <a:moveTo>
                      <a:pt x="203200" y="0"/>
                    </a:moveTo>
                    <a:lnTo>
                      <a:pt x="1842122" y="0"/>
                    </a:lnTo>
                    <a:lnTo>
                      <a:pt x="1638922" y="213252"/>
                    </a:lnTo>
                    <a:lnTo>
                      <a:pt x="0" y="213252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28575"/>
                <a:ext cx="1638922" cy="2418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05835" y="172673"/>
              <a:ext cx="7549176" cy="50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73"/>
                </a:lnSpc>
                <a:spcBef>
                  <a:spcPct val="0"/>
                </a:spcBef>
              </a:pPr>
              <a:r>
                <a:rPr lang="en-US" b="true" sz="2266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Fetching</a:t>
              </a:r>
              <a:r>
                <a:rPr lang="en-US" b="true" sz="2266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frames from videos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407605" y="2835492"/>
            <a:ext cx="5863825" cy="678821"/>
            <a:chOff x="0" y="0"/>
            <a:chExt cx="7818434" cy="905094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818434" cy="905094"/>
              <a:chOff x="0" y="0"/>
              <a:chExt cx="1842122" cy="21325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842122" cy="213252"/>
              </a:xfrm>
              <a:custGeom>
                <a:avLst/>
                <a:gdLst/>
                <a:ahLst/>
                <a:cxnLst/>
                <a:rect r="r" b="b" t="t" l="l"/>
                <a:pathLst>
                  <a:path h="213252" w="1842122">
                    <a:moveTo>
                      <a:pt x="203200" y="0"/>
                    </a:moveTo>
                    <a:lnTo>
                      <a:pt x="1842122" y="0"/>
                    </a:lnTo>
                    <a:lnTo>
                      <a:pt x="1638922" y="213252"/>
                    </a:lnTo>
                    <a:lnTo>
                      <a:pt x="0" y="213252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28575"/>
                <a:ext cx="1638922" cy="2418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24341" y="29619"/>
              <a:ext cx="6369752" cy="875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77"/>
                </a:lnSpc>
                <a:spcBef>
                  <a:spcPct val="0"/>
                </a:spcBef>
              </a:pPr>
              <a:r>
                <a:rPr lang="en-US" b="true" sz="1912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Detecting face fr</a:t>
              </a:r>
              <a:r>
                <a:rPr lang="en-US" b="true" sz="1912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om the frames and storing them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377808" y="9625120"/>
            <a:ext cx="1836531" cy="536360"/>
            <a:chOff x="0" y="0"/>
            <a:chExt cx="2448709" cy="715147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2448709" cy="715147"/>
              <a:chOff x="0" y="0"/>
              <a:chExt cx="891110" cy="26024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91110" cy="260249"/>
              </a:xfrm>
              <a:custGeom>
                <a:avLst/>
                <a:gdLst/>
                <a:ahLst/>
                <a:cxnLst/>
                <a:rect r="r" b="b" t="t" l="l"/>
                <a:pathLst>
                  <a:path h="260249" w="891110">
                    <a:moveTo>
                      <a:pt x="116697" y="0"/>
                    </a:moveTo>
                    <a:lnTo>
                      <a:pt x="774413" y="0"/>
                    </a:lnTo>
                    <a:cubicBezTo>
                      <a:pt x="838863" y="0"/>
                      <a:pt x="891110" y="52247"/>
                      <a:pt x="891110" y="116697"/>
                    </a:cubicBezTo>
                    <a:lnTo>
                      <a:pt x="891110" y="143552"/>
                    </a:lnTo>
                    <a:cubicBezTo>
                      <a:pt x="891110" y="208002"/>
                      <a:pt x="838863" y="260249"/>
                      <a:pt x="774413" y="260249"/>
                    </a:cubicBezTo>
                    <a:lnTo>
                      <a:pt x="116697" y="260249"/>
                    </a:lnTo>
                    <a:cubicBezTo>
                      <a:pt x="52247" y="260249"/>
                      <a:pt x="0" y="208002"/>
                      <a:pt x="0" y="143552"/>
                    </a:cubicBezTo>
                    <a:lnTo>
                      <a:pt x="0" y="116697"/>
                    </a:lnTo>
                    <a:cubicBezTo>
                      <a:pt x="0" y="52247"/>
                      <a:pt x="52247" y="0"/>
                      <a:pt x="116697" y="0"/>
                    </a:cubicBez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891110" cy="288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671619" y="165424"/>
              <a:ext cx="1256152" cy="345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7"/>
                </a:lnSpc>
                <a:spcBef>
                  <a:spcPct val="0"/>
                </a:spcBef>
              </a:pPr>
              <a:r>
                <a:rPr lang="en-US" b="true" sz="151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F1</a:t>
              </a:r>
              <a:r>
                <a:rPr lang="en-US" b="true" sz="151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score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431639" y="7742556"/>
            <a:ext cx="1782700" cy="717317"/>
            <a:chOff x="0" y="0"/>
            <a:chExt cx="2376933" cy="956422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2376933" cy="956422"/>
              <a:chOff x="0" y="0"/>
              <a:chExt cx="646781" cy="260249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46781" cy="260249"/>
              </a:xfrm>
              <a:custGeom>
                <a:avLst/>
                <a:gdLst/>
                <a:ahLst/>
                <a:cxnLst/>
                <a:rect r="r" b="b" t="t" l="l"/>
                <a:pathLst>
                  <a:path h="260249" w="646781">
                    <a:moveTo>
                      <a:pt x="130125" y="0"/>
                    </a:moveTo>
                    <a:lnTo>
                      <a:pt x="516656" y="0"/>
                    </a:lnTo>
                    <a:cubicBezTo>
                      <a:pt x="551167" y="0"/>
                      <a:pt x="584265" y="13710"/>
                      <a:pt x="608668" y="38113"/>
                    </a:cubicBezTo>
                    <a:cubicBezTo>
                      <a:pt x="633071" y="62516"/>
                      <a:pt x="646781" y="95613"/>
                      <a:pt x="646781" y="130125"/>
                    </a:cubicBezTo>
                    <a:lnTo>
                      <a:pt x="646781" y="130125"/>
                    </a:lnTo>
                    <a:cubicBezTo>
                      <a:pt x="646781" y="201991"/>
                      <a:pt x="588522" y="260249"/>
                      <a:pt x="516656" y="260249"/>
                    </a:cubicBezTo>
                    <a:lnTo>
                      <a:pt x="130125" y="260249"/>
                    </a:lnTo>
                    <a:cubicBezTo>
                      <a:pt x="95613" y="260249"/>
                      <a:pt x="62516" y="246540"/>
                      <a:pt x="38113" y="222137"/>
                    </a:cubicBezTo>
                    <a:cubicBezTo>
                      <a:pt x="13710" y="197734"/>
                      <a:pt x="0" y="164636"/>
                      <a:pt x="0" y="130125"/>
                    </a:cubicBezTo>
                    <a:lnTo>
                      <a:pt x="0" y="130125"/>
                    </a:lnTo>
                    <a:cubicBezTo>
                      <a:pt x="0" y="95613"/>
                      <a:pt x="13710" y="62516"/>
                      <a:pt x="38113" y="38113"/>
                    </a:cubicBezTo>
                    <a:cubicBezTo>
                      <a:pt x="62516" y="13710"/>
                      <a:pt x="95613" y="0"/>
                      <a:pt x="130125" y="0"/>
                    </a:cubicBez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646781" cy="288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42171" y="38832"/>
              <a:ext cx="2092591" cy="831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5"/>
                </a:lnSpc>
                <a:spcBef>
                  <a:spcPct val="0"/>
                </a:spcBef>
              </a:pPr>
              <a:r>
                <a:rPr lang="en-US" b="true" sz="178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</a:t>
              </a:r>
              <a:r>
                <a:rPr lang="en-US" b="true" sz="1789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onfusion Matrix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431751" y="8840001"/>
            <a:ext cx="1836420" cy="451744"/>
            <a:chOff x="0" y="0"/>
            <a:chExt cx="2448560" cy="602326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2448560" cy="602326"/>
              <a:chOff x="0" y="0"/>
              <a:chExt cx="1057960" cy="26024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057960" cy="260249"/>
              </a:xfrm>
              <a:custGeom>
                <a:avLst/>
                <a:gdLst/>
                <a:ahLst/>
                <a:cxnLst/>
                <a:rect r="r" b="b" t="t" l="l"/>
                <a:pathLst>
                  <a:path h="260249" w="1057960">
                    <a:moveTo>
                      <a:pt x="98293" y="0"/>
                    </a:moveTo>
                    <a:lnTo>
                      <a:pt x="959666" y="0"/>
                    </a:lnTo>
                    <a:cubicBezTo>
                      <a:pt x="985735" y="0"/>
                      <a:pt x="1010737" y="10356"/>
                      <a:pt x="1029170" y="28789"/>
                    </a:cubicBezTo>
                    <a:cubicBezTo>
                      <a:pt x="1047604" y="47223"/>
                      <a:pt x="1057960" y="72224"/>
                      <a:pt x="1057960" y="98293"/>
                    </a:cubicBezTo>
                    <a:lnTo>
                      <a:pt x="1057960" y="161956"/>
                    </a:lnTo>
                    <a:cubicBezTo>
                      <a:pt x="1057960" y="188025"/>
                      <a:pt x="1047604" y="213026"/>
                      <a:pt x="1029170" y="231460"/>
                    </a:cubicBezTo>
                    <a:cubicBezTo>
                      <a:pt x="1010737" y="249894"/>
                      <a:pt x="985735" y="260249"/>
                      <a:pt x="959666" y="260249"/>
                    </a:cubicBezTo>
                    <a:lnTo>
                      <a:pt x="98293" y="260249"/>
                    </a:lnTo>
                    <a:cubicBezTo>
                      <a:pt x="72224" y="260249"/>
                      <a:pt x="47223" y="249894"/>
                      <a:pt x="28789" y="231460"/>
                    </a:cubicBezTo>
                    <a:cubicBezTo>
                      <a:pt x="10356" y="213026"/>
                      <a:pt x="0" y="188025"/>
                      <a:pt x="0" y="161956"/>
                    </a:cubicBezTo>
                    <a:lnTo>
                      <a:pt x="0" y="98293"/>
                    </a:lnTo>
                    <a:cubicBezTo>
                      <a:pt x="0" y="72224"/>
                      <a:pt x="10356" y="47223"/>
                      <a:pt x="28789" y="28789"/>
                    </a:cubicBezTo>
                    <a:cubicBezTo>
                      <a:pt x="47223" y="10356"/>
                      <a:pt x="72224" y="0"/>
                      <a:pt x="98293" y="0"/>
                    </a:cubicBez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1057960" cy="288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33060" y="132733"/>
              <a:ext cx="1682289" cy="2871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2"/>
                </a:lnSpc>
                <a:spcBef>
                  <a:spcPct val="0"/>
                </a:spcBef>
              </a:pPr>
              <a:r>
                <a:rPr lang="en-US" b="true" sz="128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ROC</a:t>
              </a:r>
              <a:r>
                <a:rPr lang="en-US" b="true" sz="128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Curve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431639" y="6726191"/>
            <a:ext cx="1836531" cy="678545"/>
            <a:chOff x="0" y="0"/>
            <a:chExt cx="2448709" cy="904727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2448709" cy="904727"/>
              <a:chOff x="0" y="0"/>
              <a:chExt cx="704384" cy="260249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04384" cy="260249"/>
              </a:xfrm>
              <a:custGeom>
                <a:avLst/>
                <a:gdLst/>
                <a:ahLst/>
                <a:cxnLst/>
                <a:rect r="r" b="b" t="t" l="l"/>
                <a:pathLst>
                  <a:path h="260249" w="704384">
                    <a:moveTo>
                      <a:pt x="130125" y="0"/>
                    </a:moveTo>
                    <a:lnTo>
                      <a:pt x="574259" y="0"/>
                    </a:lnTo>
                    <a:cubicBezTo>
                      <a:pt x="646125" y="0"/>
                      <a:pt x="704384" y="58259"/>
                      <a:pt x="704384" y="130125"/>
                    </a:cubicBezTo>
                    <a:lnTo>
                      <a:pt x="704384" y="130125"/>
                    </a:lnTo>
                    <a:cubicBezTo>
                      <a:pt x="704384" y="164636"/>
                      <a:pt x="690674" y="197734"/>
                      <a:pt x="666271" y="222137"/>
                    </a:cubicBezTo>
                    <a:cubicBezTo>
                      <a:pt x="641868" y="246540"/>
                      <a:pt x="608770" y="260249"/>
                      <a:pt x="574259" y="260249"/>
                    </a:cubicBezTo>
                    <a:lnTo>
                      <a:pt x="130125" y="260249"/>
                    </a:lnTo>
                    <a:cubicBezTo>
                      <a:pt x="95613" y="260249"/>
                      <a:pt x="62516" y="246540"/>
                      <a:pt x="38113" y="222137"/>
                    </a:cubicBezTo>
                    <a:cubicBezTo>
                      <a:pt x="13710" y="197734"/>
                      <a:pt x="0" y="164636"/>
                      <a:pt x="0" y="130125"/>
                    </a:cubicBezTo>
                    <a:lnTo>
                      <a:pt x="0" y="130125"/>
                    </a:lnTo>
                    <a:cubicBezTo>
                      <a:pt x="0" y="95613"/>
                      <a:pt x="13710" y="62516"/>
                      <a:pt x="38113" y="38113"/>
                    </a:cubicBezTo>
                    <a:cubicBezTo>
                      <a:pt x="62516" y="13710"/>
                      <a:pt x="95613" y="0"/>
                      <a:pt x="130125" y="0"/>
                    </a:cubicBez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28575"/>
                <a:ext cx="704384" cy="2888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502637" y="220076"/>
              <a:ext cx="1443435" cy="426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1"/>
                </a:lnSpc>
                <a:spcBef>
                  <a:spcPct val="0"/>
                </a:spcBef>
              </a:pPr>
              <a:r>
                <a:rPr lang="en-US" b="true" sz="1922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Acc</a:t>
              </a:r>
              <a:r>
                <a:rPr lang="en-US" b="true" sz="1922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uracy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EXECUTION ROADMAP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4260344" y="7377023"/>
            <a:ext cx="2363400" cy="566614"/>
            <a:chOff x="0" y="0"/>
            <a:chExt cx="3151199" cy="755485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3151199" cy="755485"/>
              <a:chOff x="0" y="0"/>
              <a:chExt cx="795568" cy="19073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95568" cy="190734"/>
              </a:xfrm>
              <a:custGeom>
                <a:avLst/>
                <a:gdLst/>
                <a:ahLst/>
                <a:cxnLst/>
                <a:rect r="r" b="b" t="t" l="l"/>
                <a:pathLst>
                  <a:path h="190734" w="795568">
                    <a:moveTo>
                      <a:pt x="95367" y="0"/>
                    </a:moveTo>
                    <a:lnTo>
                      <a:pt x="700201" y="0"/>
                    </a:lnTo>
                    <a:cubicBezTo>
                      <a:pt x="752871" y="0"/>
                      <a:pt x="795568" y="42697"/>
                      <a:pt x="795568" y="95367"/>
                    </a:cubicBezTo>
                    <a:lnTo>
                      <a:pt x="795568" y="95367"/>
                    </a:lnTo>
                    <a:cubicBezTo>
                      <a:pt x="795568" y="120660"/>
                      <a:pt x="785520" y="144917"/>
                      <a:pt x="767636" y="162801"/>
                    </a:cubicBezTo>
                    <a:cubicBezTo>
                      <a:pt x="749751" y="180686"/>
                      <a:pt x="725494" y="190734"/>
                      <a:pt x="700201" y="190734"/>
                    </a:cubicBezTo>
                    <a:lnTo>
                      <a:pt x="95367" y="190734"/>
                    </a:lnTo>
                    <a:cubicBezTo>
                      <a:pt x="70074" y="190734"/>
                      <a:pt x="45817" y="180686"/>
                      <a:pt x="27932" y="162801"/>
                    </a:cubicBezTo>
                    <a:cubicBezTo>
                      <a:pt x="10048" y="144917"/>
                      <a:pt x="0" y="120660"/>
                      <a:pt x="0" y="95367"/>
                    </a:cubicBezTo>
                    <a:lnTo>
                      <a:pt x="0" y="95367"/>
                    </a:lnTo>
                    <a:cubicBezTo>
                      <a:pt x="0" y="70074"/>
                      <a:pt x="10048" y="45817"/>
                      <a:pt x="27932" y="27932"/>
                    </a:cubicBezTo>
                    <a:cubicBezTo>
                      <a:pt x="45817" y="10048"/>
                      <a:pt x="70074" y="0"/>
                      <a:pt x="95367" y="0"/>
                    </a:cubicBez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795568" cy="2193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396036" y="99338"/>
              <a:ext cx="2286533" cy="499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67"/>
                </a:lnSpc>
                <a:spcBef>
                  <a:spcPct val="0"/>
                </a:spcBef>
              </a:pPr>
              <a:r>
                <a:rPr lang="en-US" b="true" sz="219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Ince</a:t>
              </a:r>
              <a:r>
                <a:rPr lang="en-US" b="true" sz="2190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ptionV3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260344" y="8771889"/>
            <a:ext cx="2452470" cy="587968"/>
            <a:chOff x="0" y="0"/>
            <a:chExt cx="3269960" cy="783957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3269960" cy="783957"/>
              <a:chOff x="0" y="0"/>
              <a:chExt cx="795568" cy="190734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795568" cy="190734"/>
              </a:xfrm>
              <a:custGeom>
                <a:avLst/>
                <a:gdLst/>
                <a:ahLst/>
                <a:cxnLst/>
                <a:rect r="r" b="b" t="t" l="l"/>
                <a:pathLst>
                  <a:path h="190734" w="795568">
                    <a:moveTo>
                      <a:pt x="95367" y="0"/>
                    </a:moveTo>
                    <a:lnTo>
                      <a:pt x="700201" y="0"/>
                    </a:lnTo>
                    <a:cubicBezTo>
                      <a:pt x="752871" y="0"/>
                      <a:pt x="795568" y="42697"/>
                      <a:pt x="795568" y="95367"/>
                    </a:cubicBezTo>
                    <a:lnTo>
                      <a:pt x="795568" y="95367"/>
                    </a:lnTo>
                    <a:cubicBezTo>
                      <a:pt x="795568" y="120660"/>
                      <a:pt x="785520" y="144917"/>
                      <a:pt x="767636" y="162801"/>
                    </a:cubicBezTo>
                    <a:cubicBezTo>
                      <a:pt x="749751" y="180686"/>
                      <a:pt x="725494" y="190734"/>
                      <a:pt x="700201" y="190734"/>
                    </a:cubicBezTo>
                    <a:lnTo>
                      <a:pt x="95367" y="190734"/>
                    </a:lnTo>
                    <a:cubicBezTo>
                      <a:pt x="70074" y="190734"/>
                      <a:pt x="45817" y="180686"/>
                      <a:pt x="27932" y="162801"/>
                    </a:cubicBezTo>
                    <a:cubicBezTo>
                      <a:pt x="10048" y="144917"/>
                      <a:pt x="0" y="120660"/>
                      <a:pt x="0" y="95367"/>
                    </a:cubicBezTo>
                    <a:lnTo>
                      <a:pt x="0" y="95367"/>
                    </a:lnTo>
                    <a:cubicBezTo>
                      <a:pt x="0" y="70074"/>
                      <a:pt x="10048" y="45817"/>
                      <a:pt x="27932" y="27932"/>
                    </a:cubicBezTo>
                    <a:cubicBezTo>
                      <a:pt x="45817" y="10048"/>
                      <a:pt x="70074" y="0"/>
                      <a:pt x="95367" y="0"/>
                    </a:cubicBezTo>
                    <a:close/>
                  </a:path>
                </a:pathLst>
              </a:custGeom>
              <a:solidFill>
                <a:srgbClr val="4D7C8B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28575"/>
                <a:ext cx="795568" cy="219309"/>
              </a:xfrm>
              <a:prstGeom prst="rect">
                <a:avLst/>
              </a:prstGeom>
            </p:spPr>
            <p:txBody>
              <a:bodyPr anchor="ctr" rtlCol="false" tIns="41244" lIns="41244" bIns="41244" rIns="41244"/>
              <a:lstStyle/>
              <a:p>
                <a:pPr algn="ctr">
                  <a:lnSpc>
                    <a:spcPts val="188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551761" y="114760"/>
              <a:ext cx="2047678" cy="5068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2"/>
                </a:lnSpc>
                <a:spcBef>
                  <a:spcPct val="0"/>
                </a:spcBef>
              </a:pPr>
              <a:r>
                <a:rPr lang="en-US" b="true" sz="2273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ResNet18</a:t>
              </a:r>
            </a:p>
          </p:txBody>
        </p:sp>
      </p:grpSp>
      <p:sp>
        <p:nvSpPr>
          <p:cNvPr name="AutoShape 59" id="59"/>
          <p:cNvSpPr/>
          <p:nvPr/>
        </p:nvSpPr>
        <p:spPr>
          <a:xfrm flipV="true">
            <a:off x="5262277" y="3879194"/>
            <a:ext cx="0" cy="711313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flipV="true">
            <a:off x="3243539" y="5438625"/>
            <a:ext cx="936674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1" id="61"/>
          <p:cNvSpPr/>
          <p:nvPr/>
        </p:nvSpPr>
        <p:spPr>
          <a:xfrm>
            <a:off x="6344342" y="5367262"/>
            <a:ext cx="99679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2" id="62"/>
          <p:cNvSpPr/>
          <p:nvPr/>
        </p:nvSpPr>
        <p:spPr>
          <a:xfrm>
            <a:off x="9490787" y="5386312"/>
            <a:ext cx="78462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3" id="63"/>
          <p:cNvSpPr/>
          <p:nvPr/>
        </p:nvSpPr>
        <p:spPr>
          <a:xfrm>
            <a:off x="12486811" y="5457675"/>
            <a:ext cx="784620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4" id="64"/>
          <p:cNvSpPr/>
          <p:nvPr/>
        </p:nvSpPr>
        <p:spPr>
          <a:xfrm>
            <a:off x="5262277" y="3879194"/>
            <a:ext cx="4726907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3092805" y="3879194"/>
            <a:ext cx="2169473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3092805" y="3514313"/>
            <a:ext cx="358857" cy="35885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7" id="67"/>
          <p:cNvSpPr/>
          <p:nvPr/>
        </p:nvSpPr>
        <p:spPr>
          <a:xfrm flipV="true">
            <a:off x="9989185" y="3514313"/>
            <a:ext cx="286222" cy="36488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8" id="68"/>
          <p:cNvSpPr/>
          <p:nvPr/>
        </p:nvSpPr>
        <p:spPr>
          <a:xfrm>
            <a:off x="8411499" y="6072656"/>
            <a:ext cx="0" cy="2993217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flipH="true">
            <a:off x="6623744" y="7660330"/>
            <a:ext cx="178775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0" id="70"/>
          <p:cNvSpPr/>
          <p:nvPr/>
        </p:nvSpPr>
        <p:spPr>
          <a:xfrm flipH="true">
            <a:off x="6712814" y="9065873"/>
            <a:ext cx="1698685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1" id="71"/>
          <p:cNvSpPr/>
          <p:nvPr/>
        </p:nvSpPr>
        <p:spPr>
          <a:xfrm flipH="true">
            <a:off x="14344987" y="6215380"/>
            <a:ext cx="0" cy="367792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2" id="72"/>
          <p:cNvSpPr/>
          <p:nvPr/>
        </p:nvSpPr>
        <p:spPr>
          <a:xfrm>
            <a:off x="14325937" y="7065463"/>
            <a:ext cx="1156883" cy="12380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3" id="73"/>
          <p:cNvSpPr/>
          <p:nvPr/>
        </p:nvSpPr>
        <p:spPr>
          <a:xfrm flipV="true">
            <a:off x="14344987" y="9852455"/>
            <a:ext cx="1063194" cy="40846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4" id="74"/>
          <p:cNvSpPr/>
          <p:nvPr/>
        </p:nvSpPr>
        <p:spPr>
          <a:xfrm>
            <a:off x="14344987" y="9065873"/>
            <a:ext cx="1132248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5" id="75"/>
          <p:cNvSpPr/>
          <p:nvPr/>
        </p:nvSpPr>
        <p:spPr>
          <a:xfrm>
            <a:off x="14344987" y="8101214"/>
            <a:ext cx="1086652" cy="0"/>
          </a:xfrm>
          <a:prstGeom prst="line">
            <a:avLst/>
          </a:prstGeom>
          <a:ln cap="flat" w="38100">
            <a:solidFill>
              <a:srgbClr val="2B2C3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AND DATA PREPROCESSING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620746"/>
            <a:ext cx="15881766" cy="60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Used Dataset: FaceForensics++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86186"/>
            <a:ext cx="1588176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  <a:hlinkClick r:id="rId2" tooltip="https://github.com/ondyari/FaceForensics/tree/master/dataset/DeepFakeDetection"/>
              </a:rPr>
              <a:t>Manipulation Technique Used: </a:t>
            </a:r>
            <a:r>
              <a:rPr lang="en-US" sz="3400" spc="-51" u="sng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  <a:hlinkClick r:id="rId3" tooltip="https://github.com/ondyari/FaceForensics/tree/master/dataset/DeepFakeDetection"/>
              </a:rPr>
              <a:t>DeepFakeDetection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5340322"/>
            <a:ext cx="15881766" cy="369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We downloaded both original and manipulated videos and extracted 19th frame of each second to generate images from it.</a:t>
            </a:r>
          </a:p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we considered the compressed version of the video (c23) to extract images from it.</a:t>
            </a:r>
          </a:p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Used OpenCV library to do these operations.</a:t>
            </a:r>
          </a:p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After extracting images, we used MTCNN to crop face from the images.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SECLECTION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620746"/>
            <a:ext cx="15881766" cy="124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Other than classification models used in the study, we have considered following models to train for the deepfake detection purpose.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96302" y="4009998"/>
            <a:ext cx="15881766" cy="24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DenseNet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EfficientNet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InceptionV3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ResNet18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6835747"/>
            <a:ext cx="15881766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Out of these models, we chose below 2 models to train: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6302" y="7575521"/>
            <a:ext cx="15881766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InceptionV3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ResNet18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INCEPTIONV3 MODEL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631584"/>
            <a:ext cx="15881766" cy="60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Reason why we considered InceptionV3 as a classifier model: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95" y="3863632"/>
            <a:ext cx="15881766" cy="462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99" indent="-334650" lvl="1">
              <a:lnSpc>
                <a:spcPts val="4619"/>
              </a:lnSpc>
              <a:buFont typeface="Arial"/>
              <a:buChar char="•"/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has proven performance on image classification benchmarks, making it reliable for identifying manipulated content.</a:t>
            </a:r>
          </a:p>
          <a:p>
            <a:pPr algn="l">
              <a:lnSpc>
                <a:spcPts val="4619"/>
              </a:lnSpc>
            </a:pPr>
          </a:p>
          <a:p>
            <a:pPr algn="l" marL="669299" indent="-334650" lvl="1">
              <a:lnSpc>
                <a:spcPts val="4619"/>
              </a:lnSpc>
              <a:buFont typeface="Arial"/>
              <a:buChar char="•"/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Capable of handling varied input resolutions and distortions, including compression artifacts common in social media videos.</a:t>
            </a:r>
          </a:p>
          <a:p>
            <a:pPr algn="l">
              <a:lnSpc>
                <a:spcPts val="4619"/>
              </a:lnSpc>
            </a:pPr>
          </a:p>
          <a:p>
            <a:pPr algn="l" marL="669299" indent="-334650" lvl="1">
              <a:lnSpc>
                <a:spcPts val="4619"/>
              </a:lnSpc>
              <a:buFont typeface="Arial"/>
              <a:buChar char="•"/>
            </a:pPr>
            <a:r>
              <a:rPr lang="en-US" sz="3100" spc="-4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Easy to fine-tune with transfer learning, reducing training time and improving convergence on limited deepfake datasets.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5400000">
            <a:off x="10991116" y="4102820"/>
            <a:ext cx="7942674" cy="3742985"/>
          </a:xfrm>
          <a:custGeom>
            <a:avLst/>
            <a:gdLst/>
            <a:ahLst/>
            <a:cxnLst/>
            <a:rect r="r" b="b" t="t" l="l"/>
            <a:pathLst>
              <a:path h="3742985" w="7942674">
                <a:moveTo>
                  <a:pt x="0" y="0"/>
                </a:moveTo>
                <a:lnTo>
                  <a:pt x="7942674" y="0"/>
                </a:lnTo>
                <a:lnTo>
                  <a:pt x="7942674" y="3742985"/>
                </a:lnTo>
                <a:lnTo>
                  <a:pt x="0" y="374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RESNET18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93431"/>
            <a:ext cx="10831713" cy="124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5"/>
              </a:lnSpc>
            </a:pPr>
            <a:r>
              <a:rPr lang="en-US" sz="3399" spc="-50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Reason why we considered ResNet18 as a classifier model: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4235109"/>
            <a:ext cx="10622999" cy="394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8281" indent="-354141" lvl="1">
              <a:lnSpc>
                <a:spcPts val="4756"/>
              </a:lnSpc>
              <a:buFont typeface="Arial"/>
              <a:buChar char="•"/>
            </a:pPr>
            <a:r>
              <a:rPr lang="en-US" sz="3280" spc="-4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 p</a:t>
            </a:r>
            <a:r>
              <a:rPr lang="en-US" sz="3280" spc="-4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revents vanishing gradients, enabling effective training even at 18 layers deep.</a:t>
            </a:r>
          </a:p>
          <a:p>
            <a:pPr algn="just">
              <a:lnSpc>
                <a:spcPts val="1449"/>
              </a:lnSpc>
            </a:pPr>
          </a:p>
          <a:p>
            <a:pPr algn="just" marL="708281" indent="-354141" lvl="1">
              <a:lnSpc>
                <a:spcPts val="4756"/>
              </a:lnSpc>
              <a:buFont typeface="Arial"/>
              <a:buChar char="•"/>
            </a:pPr>
            <a:r>
              <a:rPr lang="en-US" sz="3280" spc="-4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 o</a:t>
            </a:r>
            <a:r>
              <a:rPr lang="en-US" sz="3280" spc="-4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ffers a great trade-off between speed and accuracy, that makes it ideal for real-time use.</a:t>
            </a:r>
          </a:p>
          <a:p>
            <a:pPr algn="just">
              <a:lnSpc>
                <a:spcPts val="1449"/>
              </a:lnSpc>
            </a:pPr>
          </a:p>
          <a:p>
            <a:pPr algn="just" marL="708281" indent="-354141" lvl="1">
              <a:lnSpc>
                <a:spcPts val="4756"/>
              </a:lnSpc>
              <a:spcBef>
                <a:spcPct val="0"/>
              </a:spcBef>
              <a:buFont typeface="Arial"/>
              <a:buChar char="•"/>
            </a:pPr>
            <a:r>
              <a:rPr lang="en-US" sz="3280" spc="-4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It p</a:t>
            </a:r>
            <a:r>
              <a:rPr lang="en-US" sz="3280" spc="-4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erforms well on various datasets, especially with pre-trained weights (e.g., ImageNet).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THE MODEL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631584"/>
            <a:ext cx="15881766" cy="124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Out of total 16793 images, we have considered the ratio of 0.7 for training set, 0.15 for validation set and remaining 0.15 for testing set. That results in: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20836"/>
            <a:ext cx="15881766" cy="183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11755 Training Images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2519 Validation Images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2519 Testing Images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5970285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Image Transformation: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9697" y="7533595"/>
            <a:ext cx="15881766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For XceptionV3: Image resolution is converted to 299 x 299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For ResNet18: Image resolution is converted to 224 x 224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695" y="6892963"/>
            <a:ext cx="15881766" cy="60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First, we changed the resolution of the images to: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695" y="8882969"/>
            <a:ext cx="15881766" cy="60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After that, we normalized the images using the mean and std. deviation.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THE MODEL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366887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Optimizer: Adam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05411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Scheduler: ReduceLROnPlateau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58948"/>
            <a:ext cx="15881766" cy="188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combines the advantages of AdaGrad and RMSProp, adapting the learning rate for each parameter.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offers fast convergence and works well for noisy or sparse gradients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97839"/>
            <a:ext cx="15881766" cy="252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Monitors validation loss and reduces the learning rate when</a:t>
            </a: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it stops improving.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By this, it helps the model escape local minima and fine-tune performance in later training stages.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THE MODEL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366887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Loss Function: Binary Cross Entropy Function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58948"/>
            <a:ext cx="15881766" cy="188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Since it is a binary classification task, we have considered a Binary Cross Entropy Loss function.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is defined as,</a:t>
            </a: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728668" y="4746265"/>
            <a:ext cx="10481820" cy="310824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7638250"/>
            <a:ext cx="15881766" cy="124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Where, y_i is the ground truth for sample i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y_i hat is the predicted probability of the sample being in the class 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695" y="3361527"/>
            <a:ext cx="16041627" cy="5462055"/>
          </a:xfrm>
          <a:custGeom>
            <a:avLst/>
            <a:gdLst/>
            <a:ahLst/>
            <a:cxnLst/>
            <a:rect r="r" b="b" t="t" l="l"/>
            <a:pathLst>
              <a:path h="5462055" w="16041627">
                <a:moveTo>
                  <a:pt x="0" y="0"/>
                </a:moveTo>
                <a:lnTo>
                  <a:pt x="16041627" y="0"/>
                </a:lnTo>
                <a:lnTo>
                  <a:pt x="16041627" y="5462055"/>
                </a:lnTo>
                <a:lnTo>
                  <a:pt x="0" y="5462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0" t="0" r="-101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EVALUATION : INCEPTIONV3 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538988"/>
            <a:ext cx="490118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History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04901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03573" y="3204901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EVALUATION : INCEPTIONV3 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6410" y="2441575"/>
            <a:ext cx="352107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Test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Data ROC Curve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59057" y="2441575"/>
            <a:ext cx="510603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Validati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 Data ROC Curve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04901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03573" y="3204901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EVALUATION : INCEPTIONV3 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6263" y="2441575"/>
            <a:ext cx="46013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Test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Data Confusion Matrix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3690" y="2441575"/>
            <a:ext cx="58967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Validati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 Data Confusion Matrix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695" y="3516682"/>
            <a:ext cx="16230594" cy="5416961"/>
          </a:xfrm>
          <a:custGeom>
            <a:avLst/>
            <a:gdLst/>
            <a:ahLst/>
            <a:cxnLst/>
            <a:rect r="r" b="b" t="t" l="l"/>
            <a:pathLst>
              <a:path h="5416961" w="16230594">
                <a:moveTo>
                  <a:pt x="0" y="0"/>
                </a:moveTo>
                <a:lnTo>
                  <a:pt x="16230594" y="0"/>
                </a:lnTo>
                <a:lnTo>
                  <a:pt x="16230594" y="5416961"/>
                </a:lnTo>
                <a:lnTo>
                  <a:pt x="0" y="5416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EVALUATION : RESNET18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538988"/>
            <a:ext cx="490118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History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04901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03573" y="3204901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EVALUATION : RESNET18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26410" y="2441575"/>
            <a:ext cx="352107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Test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Data ROC Curve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59057" y="2441575"/>
            <a:ext cx="510603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Validati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 Data ROC Curve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695" y="3437255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400"/>
                </a:lnTo>
                <a:lnTo>
                  <a:pt x="0" y="605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03573" y="3437255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400"/>
                </a:lnTo>
                <a:lnTo>
                  <a:pt x="0" y="6053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EVALUATION : RESNET18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86263" y="2441575"/>
            <a:ext cx="46013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Test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Data Confusion Matrix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3690" y="2441575"/>
            <a:ext cx="589676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Validati</a:t>
            </a:r>
            <a:r>
              <a:rPr lang="en-US" b="true" sz="27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on Data Confusion Matrix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EXTENDED WORK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141088"/>
            <a:ext cx="15881766" cy="379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Apart from this, we have used a technique of remote PhotoPlethysmoGraphy (rPPG) to detect the DeepFake videos.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PPG is a non-invasive method used to measure changes in blood volume using light absorption.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is typically extracted from skin regions in videos, especially the face, where color changes reflect heartbeats.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77534" y="6861168"/>
            <a:ext cx="15881766" cy="316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Real videos contain natural PPG signals, visible as subtle color fluctuations in skin caused by blood flow.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Deepfake videos often lack consistent or realistic PPG signals because generative models don't accurately replicate physiological cues.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Effective even under compression or low resolution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054465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PPG in detecting DeepFakes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AND DATA PREPROCESSING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116840"/>
            <a:ext cx="15881766" cy="60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Used Dataset: </a:t>
            </a:r>
            <a:r>
              <a:rPr lang="en-US" sz="3400" spc="-51" u="sng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  <a:hlinkClick r:id="rId2" tooltip="https://www.kaggle.com/datasets/sanikatiwarekar/deep-fake-detection-dfd-entire-original-dataset"/>
              </a:rPr>
              <a:t>Deep Fake Detection (DFD) Entire Original Dataset</a:t>
            </a: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88416"/>
            <a:ext cx="15881766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contains total of 3432 videos, out of which 3068 are manipulated and 364 are original.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5067300"/>
            <a:ext cx="16230594" cy="479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Extract Region of Interest(RoI) using Haar Cascade classifier.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Extracts mean values from RGB and HSV color spaces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Maintains a history of previous frames to compute differences for temporal changes 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Adds ELA (Error Level Analysis) inspired features by taking the mean difference between original and compressed frames.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Normalize all the extracted features for better training.</a:t>
            </a:r>
          </a:p>
          <a:p>
            <a:pPr algn="l" marL="734055" indent="-367027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Padding for same length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80143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Data Preprocessing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17062702" cy="79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4"/>
              </a:lnSpc>
              <a:spcBef>
                <a:spcPct val="0"/>
              </a:spcBef>
            </a:pPr>
            <a:r>
              <a:rPr lang="en-US" b="true" sz="4610" spc="104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THE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95" y="4211377"/>
            <a:ext cx="15881766" cy="124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Out of total 768 videos, we have considered the ratio of 0.7 for training set, 0.15 for validation set and remaining 0.15 for testing set. That results in: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3117" y="5943529"/>
            <a:ext cx="15881766" cy="1835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537 Training Images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115 Validation Images</a:t>
            </a:r>
          </a:p>
          <a:p>
            <a:pPr algn="l" marL="734068" indent="-367034" lvl="1">
              <a:lnSpc>
                <a:spcPts val="4930"/>
              </a:lnSpc>
              <a:buAutoNum type="arabicPeriod" startAt="1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116 Testing Images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86369"/>
            <a:ext cx="15881766" cy="124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We have considered total 768 videos to train our model, instead of the whole dataset, because of the time and resources contraint.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THE MODEL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366887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Optimizer: AdamW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605411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Scheduler: CosineAnnealingLR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258948"/>
            <a:ext cx="15881766" cy="188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The model uses AdamW optimizer, which is an improved version of Adam.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It implements weight decay regularization.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97839"/>
            <a:ext cx="15881766" cy="188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The learning rate follows a cosine curve, decreasing gradually and then</a:t>
            </a: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 increasing slightly before decreasing again</a:t>
            </a:r>
          </a:p>
          <a:p>
            <a:pPr algn="l" marL="734068" indent="-367034" lvl="1">
              <a:lnSpc>
                <a:spcPts val="5066"/>
              </a:lnSpc>
              <a:buFont typeface="Arial"/>
              <a:buChar char="•"/>
            </a:pPr>
            <a:r>
              <a:rPr lang="en-US" sz="3400" spc="-51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This cycling helps the model escape local minima and find better optima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6230600" cy="797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0"/>
              </a:lnSpc>
              <a:spcBef>
                <a:spcPct val="0"/>
              </a:spcBef>
            </a:pPr>
            <a:r>
              <a:rPr lang="en-US" b="true" sz="4614" spc="1047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THE MODEL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95" y="2122038"/>
            <a:ext cx="15881766" cy="67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3"/>
              </a:lnSpc>
            </a:pPr>
            <a:r>
              <a:rPr lang="en-US" sz="3700" spc="-55" b="true">
                <a:solidFill>
                  <a:srgbClr val="2B2C30"/>
                </a:solidFill>
                <a:latin typeface="Gotham Bold"/>
                <a:ea typeface="Gotham Bold"/>
                <a:cs typeface="Gotham Bold"/>
                <a:sym typeface="Gotham Bold"/>
              </a:rPr>
              <a:t>Loss Function: Focal Loss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95" y="3010243"/>
            <a:ext cx="15881766" cy="42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576"/>
              </a:lnSpc>
              <a:buFont typeface="Arial"/>
              <a:buChar char="•"/>
            </a:pPr>
            <a:r>
              <a:rPr lang="en-US" sz="2400" spc="-36">
                <a:solidFill>
                  <a:srgbClr val="2B2C30"/>
                </a:solidFill>
                <a:latin typeface="Gotham"/>
                <a:ea typeface="Gotham"/>
                <a:cs typeface="Gotham"/>
                <a:sym typeface="Gotham"/>
              </a:rPr>
              <a:t>The custom Focal loss function is defined as: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05204" y="3142426"/>
            <a:ext cx="7677593" cy="264087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5418456"/>
            <a:ext cx="1990566" cy="6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 spc="83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Where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56162" y="6501766"/>
            <a:ext cx="919892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spc="54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-the p</a:t>
            </a:r>
            <a:r>
              <a:rPr lang="en-US" sz="2400" spc="54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redicted probability for the true class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27760" y="7174687"/>
            <a:ext cx="10558225" cy="386259"/>
            <a:chOff x="0" y="0"/>
            <a:chExt cx="14077633" cy="51501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707284" y="-57150"/>
              <a:ext cx="2885558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544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yi∈{0,1} -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592842" y="-57150"/>
              <a:ext cx="10484791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544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2400" spc="544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one-hot encoded ground truth label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9658"/>
              <a:ext cx="69088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45920" y="8275322"/>
            <a:ext cx="496359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54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alpha - wei</a:t>
            </a:r>
            <a:r>
              <a:rPr lang="en-US" sz="2400" spc="544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ghting factor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1428" y="5972083"/>
            <a:ext cx="3773012" cy="1517021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127760" y="6501766"/>
            <a:ext cx="51816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127760" y="7745731"/>
            <a:ext cx="10252724" cy="358140"/>
            <a:chOff x="0" y="0"/>
            <a:chExt cx="13670299" cy="47752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749530" y="-47625"/>
              <a:ext cx="12920769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544">
                  <a:solidFill>
                    <a:srgbClr val="2B2C30"/>
                  </a:solidFill>
                  <a:latin typeface="DM Sans"/>
                  <a:ea typeface="DM Sans"/>
                  <a:cs typeface="DM Sans"/>
                  <a:sym typeface="DM Sans"/>
                </a:rPr>
                <a:t>xi​ - the m</a:t>
              </a:r>
              <a:r>
                <a:rPr lang="en-US" sz="2400" spc="544">
                  <a:solidFill>
                    <a:srgbClr val="2B2C30"/>
                  </a:solidFill>
                  <a:latin typeface="DM Sans"/>
                  <a:ea typeface="DM Sans"/>
                  <a:cs typeface="DM Sans"/>
                  <a:sym typeface="DM Sans"/>
                </a:rPr>
                <a:t>odel's raw output (logits) for class i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57150"/>
              <a:ext cx="69088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7760" y="8231507"/>
            <a:ext cx="51816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127760" y="8831583"/>
            <a:ext cx="5719762" cy="426717"/>
            <a:chOff x="0" y="0"/>
            <a:chExt cx="7626350" cy="568956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34286"/>
              <a:ext cx="762635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544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γ- focusing parameter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69088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27760" y="9374509"/>
            <a:ext cx="5481756" cy="375281"/>
            <a:chOff x="0" y="0"/>
            <a:chExt cx="7309009" cy="500375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779524" y="-34295"/>
              <a:ext cx="6529484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spc="544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N- number of classes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57150"/>
              <a:ext cx="718527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518160" indent="-259080" lvl="1">
                <a:lnSpc>
                  <a:spcPts val="3359"/>
                </a:lnSpc>
                <a:buFont typeface="Arial"/>
                <a:buChar char="•"/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63339" y="3629918"/>
            <a:ext cx="12361322" cy="5150551"/>
          </a:xfrm>
          <a:custGeom>
            <a:avLst/>
            <a:gdLst/>
            <a:ahLst/>
            <a:cxnLst/>
            <a:rect r="r" b="b" t="t" l="l"/>
            <a:pathLst>
              <a:path h="5150551" w="12361322">
                <a:moveTo>
                  <a:pt x="0" y="0"/>
                </a:moveTo>
                <a:lnTo>
                  <a:pt x="12361322" y="0"/>
                </a:lnTo>
                <a:lnTo>
                  <a:pt x="12361322" y="5150551"/>
                </a:lnTo>
                <a:lnTo>
                  <a:pt x="0" y="5150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335314"/>
            <a:ext cx="4901188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Training History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076412" y="3262694"/>
            <a:ext cx="7946198" cy="6356958"/>
          </a:xfrm>
          <a:custGeom>
            <a:avLst/>
            <a:gdLst/>
            <a:ahLst/>
            <a:cxnLst/>
            <a:rect r="r" b="b" t="t" l="l"/>
            <a:pathLst>
              <a:path h="6356958" w="7946198">
                <a:moveTo>
                  <a:pt x="0" y="0"/>
                </a:moveTo>
                <a:lnTo>
                  <a:pt x="7946198" y="0"/>
                </a:lnTo>
                <a:lnTo>
                  <a:pt x="794619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36338"/>
            <a:ext cx="5106035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ROC Curve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964467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327222" y="3433948"/>
            <a:ext cx="7946198" cy="6356958"/>
          </a:xfrm>
          <a:custGeom>
            <a:avLst/>
            <a:gdLst/>
            <a:ahLst/>
            <a:cxnLst/>
            <a:rect r="r" b="b" t="t" l="l"/>
            <a:pathLst>
              <a:path h="6356958" w="7946198">
                <a:moveTo>
                  <a:pt x="0" y="0"/>
                </a:moveTo>
                <a:lnTo>
                  <a:pt x="7946198" y="0"/>
                </a:lnTo>
                <a:lnTo>
                  <a:pt x="794619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52500"/>
            <a:ext cx="16041622" cy="70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b="true" sz="4127" spc="936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EVALUATION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36338"/>
            <a:ext cx="5896769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Confusion Matrix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02593" y="4063915"/>
            <a:ext cx="10882815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DAGlLZj6QMg</dc:identifier>
  <dcterms:modified xsi:type="dcterms:W3CDTF">2011-08-01T06:04:30Z</dcterms:modified>
  <cp:revision>1</cp:revision>
  <dc:title>Cream Neutral Minimalist New Business Pitch Deck Presentation</dc:title>
</cp:coreProperties>
</file>